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40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96B7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2926080" cy="292608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005840" cy="1005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7548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MoodSyncAI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Sentiment &amp; Emotion Analyser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340156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4015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ViT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340156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4015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340156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4015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340156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B2B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4015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Fusion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DA3 Final Project  ·  Prof. Dr. Gayan de Silva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2743200" cy="3474720"/>
          </a:xfrm>
          <a:prstGeom prst="rect">
            <a:avLst/>
          </a:prstGeom>
          <a:solidFill>
            <a:srgbClr val="1B2B3B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" y="22402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mismatches between verbal and non-verbal emotional signals in real time using multiple AI modalities.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1B2B3B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10128" y="17830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2402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say one thing while their face or voice reveals something different — 'I'm fine' with a fearful expression.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005840"/>
            <a:ext cx="2743200" cy="3474720"/>
          </a:xfrm>
          <a:prstGeom prst="rect">
            <a:avLst/>
          </a:prstGeom>
          <a:solidFill>
            <a:srgbClr val="1B2B3B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81928" y="22402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CNN visual emotion, RoBERTa sentiment, and Whisper audio into a single unified assessment with a GPT-2 plain-language summary.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8"/>
                </a:solidFill>
              </a:rPr>
              <a:t>Module: Data Analytics-3  ·  Individual Project Implementation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57400" y="2450592"/>
            <a:ext cx="411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868680" cy="868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photo + typed text (e.g. 'No, the project is going well')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450592"/>
            <a:ext cx="411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097280"/>
            <a:ext cx="868680" cy="868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0972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14600" y="251460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CNN/ViT → facial emotion  ·  RoBERTa → text sentiment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2450592"/>
            <a:ext cx="411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097280"/>
            <a:ext cx="868680" cy="868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0972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251460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+ cosine mismatch detection in shared valence space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097280"/>
            <a:ext cx="868680" cy="868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0972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251460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generates plain-language summary of the combined emotional state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8595360" cy="804672"/>
          </a:xfrm>
          <a:prstGeom prst="rect">
            <a:avLst/>
          </a:prstGeom>
          <a:solidFill>
            <a:srgbClr val="1A30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330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MISMATCH DETECTED  ·  Visual: Sad 68%  ·  Text: Positive 81%  → 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"Despite positive words, facial cues indicate stress or discomfort."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6888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1234440"/>
            <a:ext cx="1645920" cy="594360"/>
          </a:xfrm>
          <a:prstGeom prst="rect">
            <a:avLst/>
          </a:prstGeom>
          <a:solidFill>
            <a:srgbClr val="1A4060"/>
          </a:solidFill>
          <a:ln w="12700">
            <a:solidFill>
              <a:srgbClr val="3A8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234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Image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47088" y="1527048"/>
            <a:ext cx="621792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2331720"/>
            <a:ext cx="1645920" cy="594360"/>
          </a:xfrm>
          <a:prstGeom prst="rect">
            <a:avLst/>
          </a:prstGeom>
          <a:solidFill>
            <a:srgbClr val="1A4060"/>
          </a:solidFill>
          <a:ln w="12700">
            <a:solidFill>
              <a:srgbClr val="3A8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47088" y="2624328"/>
            <a:ext cx="621792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3429000"/>
            <a:ext cx="1645920" cy="594360"/>
          </a:xfrm>
          <a:prstGeom prst="rect">
            <a:avLst/>
          </a:prstGeom>
          <a:solidFill>
            <a:srgbClr val="1A383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3429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(opt)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47088" y="3721608"/>
            <a:ext cx="621792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1234440"/>
            <a:ext cx="2011680" cy="594360"/>
          </a:xfrm>
          <a:prstGeom prst="rect">
            <a:avLst/>
          </a:prstGeom>
          <a:solidFill>
            <a:srgbClr val="2D1A40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1234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ViT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Emotion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1527048"/>
            <a:ext cx="640080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2331720"/>
            <a:ext cx="2011680" cy="594360"/>
          </a:xfrm>
          <a:prstGeom prst="rect">
            <a:avLst/>
          </a:prstGeom>
          <a:solidFill>
            <a:srgbClr val="1A2040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23317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Sentiment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624328"/>
            <a:ext cx="640080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3429000"/>
            <a:ext cx="2011680" cy="594360"/>
          </a:xfrm>
          <a:prstGeom prst="rect">
            <a:avLst/>
          </a:prstGeom>
          <a:solidFill>
            <a:srgbClr val="1A3830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68880" y="3429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721608"/>
            <a:ext cx="640080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1371600"/>
            <a:ext cx="1920240" cy="1828800"/>
          </a:xfrm>
          <a:prstGeom prst="rect">
            <a:avLst/>
          </a:prstGeom>
          <a:solidFill>
            <a:srgbClr val="2A1F0A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0" y="137160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Layer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Cosine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40880" y="2286000"/>
            <a:ext cx="64008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1371600"/>
            <a:ext cx="1325880" cy="822960"/>
          </a:xfrm>
          <a:prstGeom prst="rect">
            <a:avLst/>
          </a:prstGeom>
          <a:solidFill>
            <a:srgbClr val="0A2A1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137160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39328" y="2194560"/>
            <a:ext cx="0" cy="45720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2651760"/>
            <a:ext cx="1325880" cy="822960"/>
          </a:xfrm>
          <a:prstGeom prst="rect">
            <a:avLst/>
          </a:prstGeom>
          <a:solidFill>
            <a:srgbClr val="0A2A1A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265176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1168" y="4297680"/>
            <a:ext cx="8778240" cy="594360"/>
          </a:xfrm>
          <a:prstGeom prst="rect">
            <a:avLst/>
          </a:prstGeom>
          <a:solidFill>
            <a:srgbClr val="1B2B3B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Features:  🔥 Grad-CAM Heatmap  ·  📝 Token Attention  ·  🎥 Webcam Timeline  ·  🎙 Audio via Whisper  ·  🧩 Learned Fusion MLP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1B2B3B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502920"/>
          </a:xfrm>
          <a:prstGeom prst="rect">
            <a:avLst/>
          </a:prstGeom>
          <a:solidFill>
            <a:srgbClr val="2D1A4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Visual Emotion — ViT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361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trpakov/vit-face-expression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06654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(ViT-Base)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968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5968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FER-2013 / AffectNet fine-tune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31272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angry, disgust, fearful, happy,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sad, surprised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on FER-2013 test 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1879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41879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via attention rollout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4023360" cy="3931920"/>
          </a:xfrm>
          <a:prstGeom prst="rect">
            <a:avLst/>
          </a:prstGeom>
          <a:solidFill>
            <a:srgbClr val="1B2B3B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14400"/>
            <a:ext cx="4023360" cy="502920"/>
          </a:xfrm>
          <a:prstGeom prst="rect">
            <a:avLst/>
          </a:prstGeom>
          <a:solidFill>
            <a:srgbClr val="1A2040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914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2B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Text Sentiment — RoBERTa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15361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1536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cardiffnlp/twitter-roberta-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base-sentiment-latest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0665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06654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— robustly optimised BERT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5968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59689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Neutral / Negative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1272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RoBERTa: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1272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masking, no NSP, handles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informal/conversational text well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657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657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weights from last attn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1879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4187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via TextBlob (demo mode)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Layer &amp; Mismatch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931920"/>
          </a:xfrm>
          <a:prstGeom prst="rect">
            <a:avLst/>
          </a:prstGeom>
          <a:solidFill>
            <a:srgbClr val="1B2B3B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241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Fusion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Map visual 7-class output → 3-class valence space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(positive / neutral / negative)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3055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Map RoBERTa output → same 3-class space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5234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Weighted average: visual × 0.6 + text × 0.4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(configurable in sidebar)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374136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Cosine distance between the two vectors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mismatch score in [0, 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99592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Score &gt; threshold → ⚠ MISMATCH badge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874520"/>
          </a:xfrm>
          <a:prstGeom prst="rect">
            <a:avLst/>
          </a:prstGeom>
          <a:solidFill>
            <a:srgbClr val="2A1F0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8755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Mismatch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valence: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63640" y="1417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[0.02, 0.08, 0.90]  (very negative)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valence: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[0.81, 0.14, 0.05]  (positive)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dist.: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20574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 →  ⚠ MISMATCH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output: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237744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[0.34, 0.10, 0.56]  (negative lean)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160520" cy="1920240"/>
          </a:xfrm>
          <a:prstGeom prst="rect">
            <a:avLst/>
          </a:prstGeom>
          <a:solidFill>
            <a:srgbClr val="1B2B3B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992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Extended: Learned Fusion MLP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40156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weighted average with a trainable 3-layer MLP (input: 6-dim concatenated valence vectors → 32 → 16 → 3 softmax). Learns optimal fusion weights from labelled data.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2788920" cy="1828800"/>
          </a:xfrm>
          <a:prstGeom prst="rect">
            <a:avLst/>
          </a:prstGeom>
          <a:solidFill>
            <a:srgbClr val="1B2B3B"/>
          </a:solidFill>
          <a:ln w="1016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Webcam / Real-Time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frames from the webcam at configurable FPS. Runs emotion analysis on each frame and builds a Chart.js emotion timeline (sad/fearful/neutral over time).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36976" y="1005840"/>
            <a:ext cx="2788920" cy="1828800"/>
          </a:xfrm>
          <a:prstGeom prst="rect">
            <a:avLst/>
          </a:prstGeom>
          <a:solidFill>
            <a:srgbClr val="1B2B3B"/>
          </a:solidFill>
          <a:ln w="1016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46704" y="109728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Audio via Whisper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46704" y="150876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WAV/MP3 clip → transcribed offline with OpenAI Whisper (base model). Transcript feeds the text channel. Timestamps enable per-segment analysis.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788920" cy="1828800"/>
          </a:xfrm>
          <a:prstGeom prst="rect">
            <a:avLst/>
          </a:prstGeom>
          <a:solidFill>
            <a:srgbClr val="1B2B3B"/>
          </a:solidFill>
          <a:ln w="1016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09728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Grad-CAM Heatmap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27648" y="150876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facial regions that drove the emotion prediction. Uses Attention Rollout (forward hooks on ViTSelfAttention dropout layers) — no output_attentions flag required.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3017520"/>
            <a:ext cx="2788920" cy="1828800"/>
          </a:xfrm>
          <a:prstGeom prst="rect">
            <a:avLst/>
          </a:prstGeom>
          <a:solidFill>
            <a:srgbClr val="1B2B3B"/>
          </a:solidFill>
          <a:ln w="1016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0896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Token Attention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520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per-token attention from the final RoBERTa layer. Renders as colour-coded HTML spans with opacity proportional to attention weight.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36976" y="3017520"/>
            <a:ext cx="2788920" cy="1828800"/>
          </a:xfrm>
          <a:prstGeom prst="rect">
            <a:avLst/>
          </a:prstGeom>
          <a:solidFill>
            <a:srgbClr val="1B2B3B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46704" y="310896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Learned Fusion MLP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46704" y="3520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LearnedFusionLayer class in fusion.py — replaces the weighted average with a trained neural network combiner. Same API as the default FusionLayer.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2788920" cy="1828800"/>
          </a:xfrm>
          <a:prstGeom prst="rect">
            <a:avLst/>
          </a:prstGeom>
          <a:solidFill>
            <a:srgbClr val="1B2B3B"/>
          </a:solidFill>
          <a:ln w="1016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27648" y="310896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HuggingFace Deployment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27648" y="3520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includes Streamlit Space YAML. Push repo to HuggingFace Spaces → public URL demo. No code changes needed.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&amp; Project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77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moodsynai/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83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models/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visual_model.py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text_model.py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audio_model.py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63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fusion.py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419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generative.py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75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utils/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gradcam.py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1879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attention_viz.py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443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webcam.py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914400"/>
            <a:ext cx="4434840" cy="3977640"/>
          </a:xfrm>
          <a:prstGeom prst="rect">
            <a:avLst/>
          </a:prstGeom>
          <a:solidFill>
            <a:srgbClr val="1B2B3B"/>
          </a:solidFill>
          <a:ln w="6350">
            <a:solidFill>
              <a:srgbClr val="8B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10058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Model-agnostic interfaces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expose the same .predict() contract — swap ViT for CNN or RoBERTa for LSTM with one line.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16276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Lazy imports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901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dependencies (torch, transformers, whisper) imported inside methods — app loads instantly.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24942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Graceful fallbacks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5237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returns flat heatmap on failure; GPT-2 falls back to rule-based templates; each modality is optional.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287121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Docstrings throughout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145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and public method has Args / Returns documentation.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34930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Streamlit caching ready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767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should be wrapped with @st.cache_resource for production to avoid reloading on every run.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4114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requirements.txt versioned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dependencies pinned with minimum versions.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116586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output_attentions flag silently returns None for trpakov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hooks on ViTSelfAttention Dropout layers capture attention weights without relying on the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Deprecated use_column_width Streamlit 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use_container_width=True throughout app.py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 generates repetitive / low-quality text without fine-tuning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repetition_penalty=1.3 + temperature=0.7 + rule-based template fallback for graceful degradation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modalities output incompatible label spaces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3-class valence mapping (positive / neutral / negative) before fusion + cosine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loading slow on CPU / every Streamlit rerun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@st.cache_resource annotation caches model instances across user interactions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0" marR="1016000" marT="762000" marB="7620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Sample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1508760"/>
          </a:xfrm>
          <a:prstGeom prst="rect">
            <a:avLst/>
          </a:prstGeom>
          <a:solidFill>
            <a:srgbClr val="1B2B3B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A3B8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Face photo: person appearing stressed / fearful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Text: "No, I think the project is going really well."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1965960" cy="1508760"/>
          </a:xfrm>
          <a:prstGeom prst="rect">
            <a:avLst/>
          </a:prstGeom>
          <a:solidFill>
            <a:srgbClr val="1A2A3A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9326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Visual Emotion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2618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· 68%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7190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Fearful 18% · Neutral 8%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868680"/>
            <a:ext cx="1965960" cy="1508760"/>
          </a:xfrm>
          <a:prstGeom prst="rect">
            <a:avLst/>
          </a:prstGeom>
          <a:solidFill>
            <a:srgbClr val="0A2015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9326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Text Sentiment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2618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· 81%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17190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14% · Negative 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8595360" cy="594360"/>
          </a:xfrm>
          <a:prstGeom prst="rect">
            <a:avLst/>
          </a:prstGeom>
          <a:solidFill>
            <a:srgbClr val="2A1F0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42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MISMATCH DETECTED  —  Mismatch score: 0.73  (threshold: 0.50)  —  Visual weight 60%  ·  Text weight 40%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8595360" cy="1143000"/>
          </a:xfrm>
          <a:prstGeom prst="rect">
            <a:avLst/>
          </a:prstGeom>
          <a:solidFill>
            <a:srgbClr val="1B2B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91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  Generative Summary (GPT-2)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3931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"Despite expressing positive sentiment verbally, the speaker's facial cues indicate stress or discomfort. This incongruence is worth noting in the context of the conversation."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8"/>
                </a:solidFill>
              </a:rPr>
              <a:t>Demo: streamlit run app.py  ·  Deployed: huggingface.co/spaces/yourname/moodsynai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F4A261">
              <a:alpha val="8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457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🧠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MoodSyncAI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Sentiment &amp; Emotion Analyser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RoBERTa · Whisper · GPT-2 · Fusion · Grad-CAM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8"/>
                </a:solidFill>
              </a:rPr>
              <a:t>DA3 Final Project  ·  Prof. Dr. Gayan de Silva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1188</Words>
  <Application>Microsoft Office PowerPoint</Application>
  <PresentationFormat>On-screen Show (16:9)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MoodSyncAI — Multi-Modal Sentiment &amp; Emotion Analyser</dc:title>
  <dc:subject>PptxGenJS Presentation</dc:subject>
  <dc:creator>PptxGenJS</dc:creator>
  <cp:lastModifiedBy>sai charan</cp:lastModifiedBy>
  <cp:revision>2</cp:revision>
  <dcterms:created xsi:type="dcterms:W3CDTF">2026-05-12T20:34:56Z</dcterms:created>
  <dcterms:modified xsi:type="dcterms:W3CDTF">2026-05-12T21:54:00Z</dcterms:modified>
</cp:coreProperties>
</file>